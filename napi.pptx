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21"/>
  </p:handoutMasterIdLst>
  <p:sldIdLst>
    <p:sldId id="256" r:id="rId4"/>
    <p:sldId id="257" r:id="rId6"/>
    <p:sldId id="258" r:id="rId7"/>
    <p:sldId id="260" r:id="rId8"/>
    <p:sldId id="261" r:id="rId9"/>
    <p:sldId id="267" r:id="rId10"/>
    <p:sldId id="262" r:id="rId11"/>
    <p:sldId id="268" r:id="rId12"/>
    <p:sldId id="269" r:id="rId13"/>
    <p:sldId id="263" r:id="rId14"/>
    <p:sldId id="264" r:id="rId15"/>
    <p:sldId id="265" r:id="rId16"/>
    <p:sldId id="270" r:id="rId17"/>
    <p:sldId id="271" r:id="rId18"/>
    <p:sldId id="272" r:id="rId19"/>
    <p:sldId id="259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8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9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0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1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ffectLst/>
              </a:rPr>
              <a:t>https://cloud.tencent.com/developer/article/2605533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https://baijiahao.baidu.com/s?id=1801072133360964308&amp;wfr=spider&amp;for=pc</a:t>
            </a:r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702300" y="2122170"/>
            <a:ext cx="791210" cy="9137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01.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697345" y="212217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背景与挑战（公司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写）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序号"/>
          <p:cNvSpPr txBox="1"/>
          <p:nvPr>
            <p:custDataLst>
              <p:tags r:id="rId4"/>
            </p:custDataLst>
          </p:nvPr>
        </p:nvSpPr>
        <p:spPr>
          <a:xfrm>
            <a:off x="5702300" y="3123565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02.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项标题"/>
          <p:cNvSpPr txBox="1"/>
          <p:nvPr>
            <p:custDataLst>
              <p:tags r:id="rId5"/>
            </p:custDataLst>
          </p:nvPr>
        </p:nvSpPr>
        <p:spPr>
          <a:xfrm>
            <a:off x="6697345" y="312356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chemeClr val="accent1"/>
                </a:solidFill>
                <a:latin typeface="+mj-ea"/>
                <a:ea typeface="+mj-ea"/>
              </a:rPr>
              <a:t>NAPI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核心概念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序号"/>
          <p:cNvSpPr txBox="1"/>
          <p:nvPr>
            <p:custDataLst>
              <p:tags r:id="rId6"/>
            </p:custDataLst>
          </p:nvPr>
        </p:nvSpPr>
        <p:spPr>
          <a:xfrm>
            <a:off x="5702300" y="4118610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03.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项标题"/>
          <p:cNvSpPr txBox="1"/>
          <p:nvPr>
            <p:custDataLst>
              <p:tags r:id="rId7"/>
            </p:custDataLst>
          </p:nvPr>
        </p:nvSpPr>
        <p:spPr>
          <a:xfrm>
            <a:off x="6697345" y="411861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实战四步法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5" name="序号"/>
          <p:cNvSpPr txBox="1"/>
          <p:nvPr>
            <p:custDataLst>
              <p:tags r:id="rId8"/>
            </p:custDataLst>
          </p:nvPr>
        </p:nvSpPr>
        <p:spPr>
          <a:xfrm>
            <a:off x="5702300" y="5113655"/>
            <a:ext cx="791210" cy="9017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04.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项标题"/>
          <p:cNvSpPr txBox="1"/>
          <p:nvPr>
            <p:custDataLst>
              <p:tags r:id="rId9"/>
            </p:custDataLst>
          </p:nvPr>
        </p:nvSpPr>
        <p:spPr>
          <a:xfrm>
            <a:off x="6697345" y="511365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总结与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展望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r>
              <a:rPr lang="en-US" altLang="zh-CN" dirty="0"/>
              <a:t>1. </a:t>
            </a:r>
            <a:r>
              <a:rPr lang="zh-CN" altLang="en-US" dirty="0"/>
              <a:t>背景与</a:t>
            </a:r>
            <a:r>
              <a:rPr lang="zh-CN" altLang="en-US" dirty="0"/>
              <a:t>挑战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业务场景：</a:t>
            </a:r>
            <a:r>
              <a:rPr lang="en-US" altLang="zh-CN"/>
              <a:t>AI</a:t>
            </a:r>
            <a:r>
              <a:rPr lang="zh-CN" altLang="en-US"/>
              <a:t>部门的</a:t>
            </a:r>
            <a:r>
              <a:rPr lang="en-US" altLang="zh-CN"/>
              <a:t>C++</a:t>
            </a:r>
            <a:r>
              <a:rPr lang="zh-CN" altLang="en-US"/>
              <a:t>特征识别代码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鸿蒙</a:t>
            </a:r>
            <a:r>
              <a:rPr lang="en-US" altLang="zh-CN"/>
              <a:t>App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技术痛点：语言隔离、依赖</a:t>
            </a:r>
            <a:r>
              <a:rPr lang="en-US" altLang="zh-CN"/>
              <a:t>ncnn/OpenCV</a:t>
            </a:r>
            <a:r>
              <a:rPr lang="zh-CN" altLang="en-US"/>
              <a:t>、实时性要求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方案选择：</a:t>
            </a:r>
            <a:r>
              <a:rPr lang="en-US" altLang="zh-CN"/>
              <a:t>NAPI</a:t>
            </a:r>
            <a:r>
              <a:rPr lang="zh-CN" altLang="en-US"/>
              <a:t>（官方、异步、类型安全）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</a:t>
            </a:r>
            <a:r>
              <a:rPr>
                <a:ea typeface="宋体" charset="0"/>
              </a:rPr>
              <a:t>、</a:t>
            </a:r>
            <a:r>
              <a:rPr lang="zh-CN" altLang="en-US"/>
              <a:t>背景与</a:t>
            </a:r>
            <a:r>
              <a:rPr lang="zh-CN" altLang="en-US"/>
              <a:t>挑战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>
                <a:ea typeface="宋体" charset="0"/>
              </a:rPr>
              <a:t>、</a:t>
            </a:r>
            <a:r>
              <a:rPr lang="en-US" altLang="zh-CN"/>
              <a:t>NAPI</a:t>
            </a:r>
            <a:r>
              <a:rPr lang="zh-CN" altLang="en-US"/>
              <a:t>核心概念速览</a:t>
            </a:r>
            <a:endParaRPr lang="zh-CN" altLang="en-US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创建</a:t>
            </a:r>
            <a:r>
              <a:rPr lang="en-US" altLang="zh-CN"/>
              <a:t>Native</a:t>
            </a:r>
            <a:r>
              <a:rPr lang="zh-CN" altLang="en-US"/>
              <a:t>项目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6" name="图片 5" descr="6438f6685dfd937809b45c6fa8b117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818640"/>
            <a:ext cx="8157210" cy="4008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选择这个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975360" y="1818640"/>
            <a:ext cx="8959215" cy="41313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点击创建即可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 NAPI </a:t>
            </a:r>
            <a:r>
              <a:rPr lang="zh-CN" altLang="en-US"/>
              <a:t>核心概念与</a:t>
            </a:r>
            <a:r>
              <a:rPr lang="en-US" altLang="zh-CN"/>
              <a:t> API</a:t>
            </a:r>
            <a:endParaRPr lang="en-US" altLang="zh-CN"/>
          </a:p>
        </p:txBody>
      </p:sp>
      <p:pic>
        <p:nvPicPr>
          <p:cNvPr id="4" name="图片 3" descr="9d52a4f41ffe2f06fdd9724c5cf701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960" y="1772285"/>
            <a:ext cx="8150225" cy="4650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从实践踩坑看</a:t>
            </a:r>
            <a:r>
              <a:rPr lang="en-US" altLang="zh-CN"/>
              <a:t> NAPI </a:t>
            </a:r>
            <a:r>
              <a:rPr lang="zh-CN" altLang="en-US"/>
              <a:t>开发的关键注意事项：</a:t>
            </a:r>
            <a:endParaRPr lang="zh-CN" altLang="en-US"/>
          </a:p>
          <a:p>
            <a:r>
              <a:rPr lang="zh-CN" altLang="en-US"/>
              <a:t>实际开发中容易踩中</a:t>
            </a:r>
            <a:r>
              <a:rPr lang="en-US" altLang="zh-CN"/>
              <a:t> “</a:t>
            </a:r>
            <a:r>
              <a:rPr lang="zh-CN" altLang="en-US"/>
              <a:t>名称不匹配</a:t>
            </a:r>
            <a:r>
              <a:rPr lang="en-US" altLang="zh-CN"/>
              <a:t>”“</a:t>
            </a:r>
            <a:r>
              <a:rPr lang="zh-CN" altLang="en-US"/>
              <a:t>配置错误</a:t>
            </a:r>
            <a:r>
              <a:rPr lang="en-US" altLang="zh-CN"/>
              <a:t>” </a:t>
            </a:r>
            <a:r>
              <a:rPr lang="zh-CN" altLang="en-US"/>
              <a:t>等坑</a:t>
            </a:r>
            <a:endParaRPr lang="zh-CN" altLang="en-US"/>
          </a:p>
          <a:p>
            <a:r>
              <a:rPr lang="en-US" altLang="zh-CN"/>
              <a:t>NAPI </a:t>
            </a:r>
            <a:r>
              <a:rPr lang="zh-CN" altLang="en-US"/>
              <a:t>开发的核心原则是</a:t>
            </a:r>
            <a:r>
              <a:rPr lang="en-US" altLang="zh-CN"/>
              <a:t> “</a:t>
            </a:r>
            <a:r>
              <a:rPr lang="zh-CN" altLang="en-US"/>
              <a:t>一处命名，处处统一</a:t>
            </a:r>
            <a:r>
              <a:rPr lang="en-US" altLang="zh-CN"/>
              <a:t>”</a:t>
            </a:r>
            <a:r>
              <a:rPr lang="zh-CN" altLang="en-US"/>
              <a:t>，否则会出现</a:t>
            </a:r>
            <a:r>
              <a:rPr lang="en-US" altLang="zh-CN"/>
              <a:t> “</a:t>
            </a:r>
            <a:r>
              <a:rPr lang="zh-CN" altLang="en-US"/>
              <a:t>模块找不到</a:t>
            </a:r>
            <a:r>
              <a:rPr lang="en-US" altLang="zh-CN"/>
              <a:t>” </a:t>
            </a:r>
            <a:r>
              <a:rPr lang="zh-CN" altLang="en-US"/>
              <a:t>的问题：</a:t>
            </a:r>
            <a:endParaRPr lang="zh-CN" altLang="en-US"/>
          </a:p>
          <a:p>
            <a:r>
              <a:rPr lang="en-US" altLang="zh-CN"/>
              <a:t> CMake </a:t>
            </a:r>
            <a:r>
              <a:rPr lang="zh-CN" altLang="en-US"/>
              <a:t>的</a:t>
            </a:r>
            <a:r>
              <a:rPr lang="en-US" altLang="zh-CN"/>
              <a:t>project</a:t>
            </a:r>
            <a:r>
              <a:rPr lang="zh-CN" altLang="en-US"/>
              <a:t>名、</a:t>
            </a:r>
            <a:r>
              <a:rPr lang="en-US" altLang="zh-CN"/>
              <a:t>add_library</a:t>
            </a:r>
            <a:r>
              <a:rPr lang="zh-CN" altLang="en-US"/>
              <a:t>名需与原生代码的</a:t>
            </a:r>
            <a:r>
              <a:rPr lang="en-US" altLang="zh-CN"/>
              <a:t>nm_modname</a:t>
            </a:r>
            <a:r>
              <a:rPr lang="zh-CN" altLang="en-US"/>
              <a:t>一致；</a:t>
            </a:r>
            <a:endParaRPr lang="zh-CN" altLang="en-US"/>
          </a:p>
          <a:p>
            <a:r>
              <a:rPr lang="en-US" altLang="zh-CN"/>
              <a:t> ArkTS </a:t>
            </a:r>
            <a:r>
              <a:rPr lang="zh-CN" altLang="en-US"/>
              <a:t>导入的库名需与</a:t>
            </a:r>
            <a:r>
              <a:rPr lang="en-US" altLang="zh-CN"/>
              <a:t> CMake </a:t>
            </a:r>
            <a:r>
              <a:rPr lang="zh-CN" altLang="en-US"/>
              <a:t>生成的动态库名一致（如</a:t>
            </a:r>
            <a:r>
              <a:rPr lang="en-US" altLang="zh-CN"/>
              <a:t> CMake </a:t>
            </a:r>
            <a:r>
              <a:rPr lang="zh-CN" altLang="en-US"/>
              <a:t>生成</a:t>
            </a:r>
            <a:r>
              <a:rPr lang="en-US" altLang="zh-CN"/>
              <a:t>libentry.so</a:t>
            </a:r>
            <a:r>
              <a:rPr lang="zh-CN" altLang="en-US"/>
              <a:t>，</a:t>
            </a:r>
            <a:r>
              <a:rPr lang="en-US" altLang="zh-CN"/>
              <a:t>ArkTS </a:t>
            </a:r>
            <a:r>
              <a:rPr lang="zh-CN" altLang="en-US"/>
              <a:t>需导入</a:t>
            </a:r>
            <a:r>
              <a:rPr lang="en-US" altLang="zh-CN"/>
              <a:t>’libentry.so’</a:t>
            </a:r>
            <a:r>
              <a:rPr lang="zh-CN" altLang="en-US"/>
              <a:t>）；</a:t>
            </a:r>
            <a:endParaRPr lang="zh-CN" altLang="en-US"/>
          </a:p>
          <a:p>
            <a:r>
              <a:rPr lang="en-US" altLang="zh-CN"/>
              <a:t> types</a:t>
            </a:r>
            <a:r>
              <a:rPr lang="zh-CN" altLang="en-US"/>
              <a:t>目录下的声明文件需与模块名对应（如</a:t>
            </a:r>
            <a:r>
              <a:rPr lang="en-US" altLang="zh-CN"/>
              <a:t>types/libentry</a:t>
            </a:r>
            <a:r>
              <a:rPr lang="zh-CN" altLang="en-US"/>
              <a:t>对应模块</a:t>
            </a:r>
            <a:r>
              <a:rPr lang="en-US" altLang="zh-CN"/>
              <a:t>entry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踩坑案例：若</a:t>
            </a:r>
            <a:r>
              <a:rPr lang="en-US" altLang="zh-CN"/>
              <a:t> CMake </a:t>
            </a:r>
            <a:r>
              <a:rPr lang="zh-CN" altLang="en-US"/>
              <a:t>写</a:t>
            </a:r>
            <a:r>
              <a:rPr lang="en-US" altLang="zh-CN"/>
              <a:t>project(demoModule)</a:t>
            </a:r>
            <a:r>
              <a:rPr lang="zh-CN" altLang="en-US"/>
              <a:t>，但原生代码</a:t>
            </a:r>
            <a:r>
              <a:rPr lang="en-US" altLang="zh-CN"/>
              <a:t>nm_modname = “entry”</a:t>
            </a:r>
            <a:r>
              <a:rPr lang="zh-CN" altLang="en-US"/>
              <a:t>，会导致</a:t>
            </a:r>
            <a:r>
              <a:rPr lang="en-US" altLang="zh-CN"/>
              <a:t> ArkTS </a:t>
            </a:r>
            <a:r>
              <a:rPr lang="zh-CN" altLang="en-US"/>
              <a:t>导入时找不到模块。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这里的名字一点要保持一致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66140" y="1996440"/>
            <a:ext cx="9291955" cy="50819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需要关注的就是</a:t>
            </a:r>
            <a:r>
              <a:rPr lang="en-US" altLang="zh-CN"/>
              <a:t> src/main </a:t>
            </a:r>
            <a:r>
              <a:rPr lang="zh-CN" altLang="en-US"/>
              <a:t>目录下的</a:t>
            </a:r>
            <a:r>
              <a:rPr lang="en-US" altLang="zh-CN"/>
              <a:t> cpp </a:t>
            </a:r>
            <a:r>
              <a:rPr lang="zh-CN" altLang="en-US"/>
              <a:t>目录，因为这里就是实现</a:t>
            </a:r>
            <a:r>
              <a:rPr lang="en-US" altLang="zh-CN"/>
              <a:t> HarmonyOS NAPI </a:t>
            </a:r>
            <a:r>
              <a:rPr lang="zh-CN" altLang="en-US"/>
              <a:t>的地方。这个</a:t>
            </a:r>
            <a:r>
              <a:rPr lang="en-US" altLang="zh-CN"/>
              <a:t> cpp </a:t>
            </a:r>
            <a:r>
              <a:rPr lang="zh-CN" altLang="en-US"/>
              <a:t>目录的默认内容有如下：</a:t>
            </a:r>
            <a:endParaRPr lang="zh-CN" altLang="en-US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r>
              <a:rPr lang="zh-CN" altLang="en-US"/>
              <a:t>将注意力放到</a:t>
            </a:r>
            <a:r>
              <a:rPr lang="en-US" altLang="zh-CN"/>
              <a:t> hello.cpp </a:t>
            </a:r>
            <a:r>
              <a:rPr lang="zh-CN" altLang="en-US"/>
              <a:t>文件和</a:t>
            </a:r>
            <a:r>
              <a:rPr lang="en-US" altLang="zh-CN"/>
              <a:t> index.d.ts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004570" y="2155826"/>
            <a:ext cx="8229600" cy="375919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7660" y="1276350"/>
            <a:ext cx="8993505" cy="490156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5. ArkTS </a:t>
            </a:r>
            <a:r>
              <a:rPr lang="en-US" altLang="en-US"/>
              <a:t>↔</a:t>
            </a:r>
            <a:r>
              <a:rPr lang="en-US" altLang="zh-CN"/>
              <a:t> Native </a:t>
            </a:r>
            <a:r>
              <a:rPr lang="zh-CN" altLang="en-US"/>
              <a:t>调用链</a:t>
            </a:r>
            <a:r>
              <a:rPr lang="en-US" altLang="zh-CN"/>
              <a:t>index.d.ts </a:t>
            </a:r>
            <a:r>
              <a:rPr lang="zh-CN" altLang="en-US"/>
              <a:t>文件</a:t>
            </a:r>
            <a:r>
              <a:rPr lang="en-US" altLang="zh-CN"/>
              <a:t>——</a:t>
            </a:r>
            <a:r>
              <a:rPr lang="zh-CN" altLang="en-US"/>
              <a:t>这里需要补充一个知识点，</a:t>
            </a:r>
            <a:r>
              <a:rPr lang="en-US" altLang="zh-CN"/>
              <a:t>.d.ts </a:t>
            </a:r>
            <a:r>
              <a:rPr lang="zh-CN" altLang="en-US"/>
              <a:t>文件是一种类型声明文件，往往只有</a:t>
            </a:r>
            <a:r>
              <a:rPr lang="en-US" altLang="zh-CN"/>
              <a:t> API </a:t>
            </a:r>
            <a:r>
              <a:rPr lang="zh-CN" altLang="en-US"/>
              <a:t>声明而无定义，所以都比较简短：</a:t>
            </a:r>
            <a:br>
              <a:rPr lang="zh-CN" altLang="en-US"/>
            </a:br>
            <a:br>
              <a:rPr lang="en-US" altLang="zh-CN"/>
            </a:b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-190500" y="-187432"/>
            <a:ext cx="12192000" cy="685186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 b="0"/>
              <a:t>HarmonyOS </a:t>
            </a:r>
            <a:r>
              <a:rPr lang="zh-CN" altLang="en-US" b="0"/>
              <a:t>中，是通过</a:t>
            </a:r>
            <a:r>
              <a:rPr lang="en-US" altLang="zh-CN" b="0"/>
              <a:t> napi_property_descriptor </a:t>
            </a:r>
            <a:r>
              <a:rPr lang="zh-CN" altLang="en-US" b="0"/>
              <a:t>数组将</a:t>
            </a:r>
            <a:r>
              <a:rPr lang="en-US" altLang="zh-CN" b="0"/>
              <a:t> index.d.ts </a:t>
            </a:r>
            <a:r>
              <a:rPr lang="zh-CN" altLang="en-US" b="0"/>
              <a:t>中的方法声明和</a:t>
            </a:r>
            <a:r>
              <a:rPr lang="en-US" altLang="zh-CN" b="0"/>
              <a:t> C++</a:t>
            </a:r>
            <a:r>
              <a:rPr lang="zh-CN" altLang="en-US" b="0"/>
              <a:t>源码中的方法定义，给相互关联起来的</a:t>
            </a:r>
            <a:endParaRPr lang="zh-CN" altLang="en-US" b="0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94690" y="1080135"/>
            <a:ext cx="6706235" cy="442976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366135" y="1080135"/>
            <a:ext cx="5457190" cy="3931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{"add", nullptr, Add, nullptr, nullptr, nullptr, napi_default, nullptr} </a:t>
            </a:r>
            <a:r>
              <a:rPr lang="zh-CN" altLang="en-US"/>
              <a:t>表示的是什么意思呢？意义就是用于描述</a:t>
            </a:r>
            <a:r>
              <a:rPr lang="en-US" altLang="zh-CN"/>
              <a:t>JavaScript</a:t>
            </a:r>
            <a:r>
              <a:rPr lang="zh-CN" altLang="en-US"/>
              <a:t>对象的属性，其中每个字段的含义如下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92455" y="1276350"/>
            <a:ext cx="10262235" cy="4571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了解</a:t>
            </a:r>
            <a:r>
              <a:rPr lang="en-US" altLang="zh-CN"/>
              <a:t> ets </a:t>
            </a:r>
            <a:r>
              <a:rPr lang="zh-CN" altLang="en-US"/>
              <a:t>文件如何调用</a:t>
            </a:r>
            <a:r>
              <a:rPr lang="en-US" altLang="zh-CN"/>
              <a:t> NAPI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4485" y="1276350"/>
            <a:ext cx="10798810" cy="5553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添加文档标题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0_4*l_h_i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0_4*l_h_a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0_4*l_h_i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0_4*l_h_a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0_4*l_h_i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0_4*l_h_a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8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8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81.xml><?xml version="1.0" encoding="utf-8"?>
<p:tagLst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95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演示</Application>
  <PresentationFormat>宽屏</PresentationFormat>
  <Paragraphs>70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宋体</vt:lpstr>
      <vt:lpstr>汉仪书宋二KW</vt:lpstr>
      <vt:lpstr>Calibri</vt:lpstr>
      <vt:lpstr>Helvetica Neue</vt:lpstr>
      <vt:lpstr>汉仪旗黑</vt:lpstr>
      <vt:lpstr>Arial Unicode MS</vt:lpstr>
      <vt:lpstr>WPS</vt:lpstr>
      <vt:lpstr>Office 主题​​</vt:lpstr>
      <vt:lpstr>https://cloud.tencent.com/developer/article/2605533</vt:lpstr>
      <vt:lpstr>目录</vt:lpstr>
      <vt:lpstr>1. 背景与挑战</vt:lpstr>
      <vt:lpstr>1、背景与挑战</vt:lpstr>
      <vt:lpstr>2、NAPI核心概念速览</vt:lpstr>
      <vt:lpstr>PowerPoint 演示文稿</vt:lpstr>
      <vt:lpstr>3. NAPI 核心概念与 API</vt:lpstr>
      <vt:lpstr>PowerPoint 演示文稿</vt:lpstr>
      <vt:lpstr>PowerPoint 演示文稿</vt:lpstr>
      <vt:lpstr>需要关注的就是 src/main 目录下的 cpp 目录，因为这里就是实现 HarmonyOS NAPI 的地方。这个 cpp 目录的默认内容有如下：</vt:lpstr>
      <vt:lpstr>5. ArkTS ↔ Native 调用链index.d.ts 文件——这里需要补充一个知识点，.d.ts 文件是一种类型声明文件，往往只有 API 声明而无定义，所以都比较简短：  </vt:lpstr>
      <vt:lpstr>HarmonyOS 中，是通过 napi_property_descriptor 数组将 index.d.ts 中的方法声明和 C++源码中的方法定义，给相互关联起来的</vt:lpstr>
      <vt:lpstr>{"add", nullptr, Add, nullptr, nullptr, nullptr, napi_default, nullptr} 表示的是什么意思呢？意义就是用于描述JavaScript对象的属性，其中每个字段的含义如下</vt:lpstr>
      <vt:lpstr>了解 ets 文件如何调用 NAPI</vt:lpstr>
      <vt:lpstr>PowerPoint 演示文稿</vt:lpstr>
      <vt:lpstr>添加文档标题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平～</cp:lastModifiedBy>
  <cp:revision>12</cp:revision>
  <dcterms:created xsi:type="dcterms:W3CDTF">2026-04-06T13:45:42Z</dcterms:created>
  <dcterms:modified xsi:type="dcterms:W3CDTF">2026-04-06T13:45:42Z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2052-6.15.1.8935</vt:lpwstr>
  </property>
  <property fmtid="{D5CDD505-2E9C-101B-9397-08002B2CF9AE}" pid="3" name="ICV">
    <vt:lpwstr>B3881AFE8A437A8306B9D369A52FB38D_43</vt:lpwstr>
  </property>
</Properties>
</file>